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9144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FirmClaw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17373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技术架构介绍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200400" y="2286000"/>
            <a:ext cx="2743200" cy="36576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60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本地优先的 AI 智能体框架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v6.0.0  |  ReAct Architecture  |  TypeScript + Node.js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目录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640080" cy="45720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13716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核心定位与组件优先级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640080" cy="45720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架构概览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01168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AI 生态位置与整体架构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640080" cy="45720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377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Loop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265176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ReAct 循环核心解析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017520"/>
            <a:ext cx="640080" cy="45720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48640" y="30175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71600" y="3017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工具与模型层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32918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工具系统与大模型适配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657600"/>
            <a:ext cx="640080" cy="45720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" y="3657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71600" y="3657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记忆与安全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39319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记忆系统、安全审计、上下文管理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297680"/>
            <a:ext cx="640080" cy="45720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4297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371600" y="4297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网关与总结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71600" y="457200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WebSocket 网关、技术选型、开发历程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FirmClaw 是一个从零搭建的本地优先 AI 智能体框架，核心采用 ReAct（Reasoning + Acting）架构。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8046720" cy="36576"/>
          </a:xfrm>
          <a:prstGeom prst="rect">
            <a:avLst/>
          </a:prstGeom>
          <a:solidFill>
            <a:srgbClr val="0EA5E9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80467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202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19202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Agent Loop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26080" y="1920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ReAct 循环：LLM 思考 → 调工具 → 观察 → 继续思考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804672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317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2331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工具系统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92608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极简设计：read / write / edit / bash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7432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27432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会话管理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926080" y="2743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JSONL 持久化存储，记忆的骨架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804672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1546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3154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系统提示词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26080" y="3154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动态组装 SOUL.md + 工具定义 + 记忆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566160"/>
            <a:ext cx="80467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5661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8872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上下文压缩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26080" y="3566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LLM 摘要 + token 裁剪，生存机制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9776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88720" y="3977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记忆系统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2926080" y="3977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结构化记忆 + BM25 全文搜索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43891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88720" y="4389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</a:rPr>
              <a:t>网关层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926080" y="4389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WebSocket + 多客户端 + 子智能体编排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在 AI 生态中的位置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2801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应用 / 接口层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CLI  |  Web UI  |  VS Code 插件  |  第三方客户端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89120" y="21031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▼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14400" y="2377440"/>
            <a:ext cx="7315200" cy="914400"/>
          </a:xfrm>
          <a:prstGeom prst="rect">
            <a:avLst/>
          </a:prstGeom>
          <a:solidFill>
            <a:srgbClr val="38BDF8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2468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执行 / 框架层 — FirmClaw Agent Runtime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83464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任务规划 · 工具调度 · 会话管理 · 事件分发 · 多渠道接入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89120" y="32918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566160"/>
            <a:ext cx="7315200" cy="914400"/>
          </a:xfrm>
          <a:prstGeom prst="rect">
            <a:avLst/>
          </a:prstGeom>
          <a:solidFill>
            <a:srgbClr val="7DD3FC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97280" y="36576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模型层 — 大语言模型 (LLM)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402336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</a:rPr>
              <a:t>Claude · GPT · DeepSeek · MiniMax · 通义千问 · 本地模型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FirmClaw 填补了模型与应用之间的空白，作为轻量级、可自部署的 Agent 运行时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整体架构概览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FirmClaw = 本地网关 + ReAct 循环 + 工具系统 + 持久化记忆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26080" y="1554480"/>
            <a:ext cx="3291840" cy="54864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01752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多客户端接入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182880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</a:rPr>
              <a:t>CLI / Web / VS Code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194560"/>
            <a:ext cx="3291840" cy="548640"/>
          </a:xfrm>
          <a:prstGeom prst="rect">
            <a:avLst/>
          </a:prstGeom>
          <a:solidFill>
            <a:srgbClr val="0284C7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17520" y="21945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Gateway 网关层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017520" y="246888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</a:rPr>
              <a:t>Auth + Router + ConnMgr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0" y="2834640"/>
            <a:ext cx="3291840" cy="548640"/>
          </a:xfrm>
          <a:prstGeom prst="rect">
            <a:avLst/>
          </a:prstGeom>
          <a:solidFill>
            <a:srgbClr val="0369A1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017520" y="2834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AgentLoop (ReAct)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17520" y="310896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</a:rPr>
              <a:t>思考 → 行动 → 观察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926080" y="3474720"/>
            <a:ext cx="3291840" cy="548640"/>
          </a:xfrm>
          <a:prstGeom prst="rect">
            <a:avLst/>
          </a:prstGeom>
          <a:solidFill>
            <a:srgbClr val="075985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17520" y="34747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工具 + 记忆 + 安全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3749040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F2FE"/>
                </a:solidFill>
              </a:rPr>
              <a:t>ToolRegistry / Memory / Audit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75120" y="1645920"/>
            <a:ext cx="20116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0" y="1645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</a:rPr>
              <a:t>LLM Client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75120" y="2286000"/>
            <a:ext cx="20116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</a:rPr>
              <a:t>SubagentManager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75120" y="2926080"/>
            <a:ext cx="20116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</a:rPr>
              <a:t>SessionManager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675120" y="3566160"/>
            <a:ext cx="201168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75120" y="3566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8BDF8"/>
                </a:solidFill>
              </a:rPr>
              <a:t>SearchEngine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Loop — ReAct 核心解析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Agent Loop 是整个系统的心脏，实现经典的 ReAct 模式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19456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645920"/>
            <a:ext cx="21945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7830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Reason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(思考)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606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LLM 分析任务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制定行动计划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74720" y="1645920"/>
            <a:ext cx="219456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645920"/>
            <a:ext cx="2194560" cy="5486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17830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(行动)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11880" y="2606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调用工具执行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搜索/读文件/命令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1645920"/>
            <a:ext cx="219456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0" y="1645920"/>
            <a:ext cx="219456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5" name="Text 13"/>
          <p:cNvSpPr/>
          <p:nvPr/>
        </p:nvSpPr>
        <p:spPr>
          <a:xfrm>
            <a:off x="6355080" y="178308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28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(观察)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355080" y="260604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接收工具结果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作为新上下文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175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EA5E9"/>
                </a:solidFill>
              </a:rPr>
              <a:t>→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7607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EA5E9"/>
                </a:solidFill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1828800" y="3840480"/>
            <a:ext cx="5486400" cy="36576"/>
          </a:xfrm>
          <a:prstGeom prst="rect">
            <a:avLst/>
          </a:prstGeom>
          <a:solidFill>
            <a:srgbClr val="94A3B8">
              <a:alpha val="5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0" y="3931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← 循环直到任务完成 →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4389120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自主循环：不断迭代处理不确定性任务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590288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可解释性：思考过程实时输出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791456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错误自我修正：根据结果主动调整策略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992624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安全控制：危险操作需人工审批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典型执行流程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457200" cy="45720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接收输入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371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readline 读取用户输入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E9"/>
                </a:solidFill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3152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1737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构建系统提示词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71600" y="201168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SOUL.md + 工具定义 + 记忆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19456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E9"/>
                </a:solidFill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377440"/>
            <a:ext cx="457200" cy="45720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恢复历史消息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371600" y="265176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从 JSONL 加载会话历史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8346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E9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371600" y="3017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上下文压缩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329184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LLM 摘要 + token 裁剪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34747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E9"/>
                </a:solidFill>
              </a:rPr>
              <a:t>▼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37160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ReAct 循环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371600" y="393192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LLM 推理 → 工具调用 → 观察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22960" y="41148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EA5E9"/>
                </a:solidFill>
              </a:rPr>
              <a:t>▼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solidFill>
            <a:srgbClr val="0EA5E9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3152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37160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最终回复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371600" y="45720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输出结果给用户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工具系统 — Agent 的手脚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96596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19659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执行终端命令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2860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spawn() 流式输出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cwd/timeout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97480" y="1188720"/>
            <a:ext cx="196596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97480" y="1188720"/>
            <a:ext cx="196596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371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read_file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788920" y="1828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读取文件内容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22860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offset/limit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二进制检测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188720"/>
            <a:ext cx="196596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188720"/>
            <a:ext cx="1965960" cy="5486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371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write_file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937760" y="1828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创建/覆写文件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22860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自动创建父目录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输出写入字节数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95160" y="1188720"/>
            <a:ext cx="1965960" cy="27432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95160" y="1188720"/>
            <a:ext cx="1965960" cy="54864"/>
          </a:xfrm>
          <a:prstGeom prst="rect">
            <a:avLst/>
          </a:prstGeom>
          <a:solidFill>
            <a:srgbClr val="075985"/>
          </a:solidFill>
          <a:ln/>
        </p:spPr>
      </p:sp>
      <p:sp>
        <p:nvSpPr>
          <p:cNvPr id="21" name="Text 19"/>
          <p:cNvSpPr/>
          <p:nvPr/>
        </p:nvSpPr>
        <p:spPr>
          <a:xfrm>
            <a:off x="7086600" y="137160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759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edit_file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86600" y="18288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精确编辑文件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228600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查找替换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唯一性校验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2062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权限策略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103120" y="4160520"/>
            <a:ext cx="274320" cy="27432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6" name="Text 24"/>
          <p:cNvSpPr/>
          <p:nvPr/>
        </p:nvSpPr>
        <p:spPr>
          <a:xfrm>
            <a:off x="2423160" y="4160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23160" y="4389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read / ls / git status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80560" y="4160520"/>
            <a:ext cx="274320" cy="2743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4160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4389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write / edit / npm install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858000" y="4160520"/>
            <a:ext cx="274320" cy="2743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7178040" y="41605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78040" y="4389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rm / del — 需人工审批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工具执行流水线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371600"/>
            <a:ext cx="1069848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371600"/>
            <a:ext cx="1069848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508760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96596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参数校验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237744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ajv JSON Schema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44168" y="22860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527048" y="1371600"/>
            <a:ext cx="1069848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527048" y="1371600"/>
            <a:ext cx="1069848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1527048" y="1508760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72768" y="196596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Before Hooks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72768" y="237744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可修改/拒绝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96896" y="22860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79776" y="1371600"/>
            <a:ext cx="1069848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79776" y="1371600"/>
            <a:ext cx="1069848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8" name="Text 16"/>
          <p:cNvSpPr/>
          <p:nvPr/>
        </p:nvSpPr>
        <p:spPr>
          <a:xfrm>
            <a:off x="2779776" y="1508760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2825496" y="196596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权限检查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825496" y="237744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白名单+黑名单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849624" y="22860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032504" y="1371600"/>
            <a:ext cx="1069848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032504" y="1371600"/>
            <a:ext cx="1069848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Text 22"/>
          <p:cNvSpPr/>
          <p:nvPr/>
        </p:nvSpPr>
        <p:spPr>
          <a:xfrm>
            <a:off x="4032504" y="1508760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4078224" y="196596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人工审批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78224" y="237744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高风险暂停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102352" y="22860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285232" y="1371600"/>
            <a:ext cx="1069848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285232" y="1371600"/>
            <a:ext cx="1069848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0" name="Text 28"/>
          <p:cNvSpPr/>
          <p:nvPr/>
        </p:nvSpPr>
        <p:spPr>
          <a:xfrm>
            <a:off x="5285232" y="1508760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330952" y="196596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工具执行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30952" y="237744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实际操作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55080" y="22860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537960" y="1371600"/>
            <a:ext cx="1069848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537960" y="1371600"/>
            <a:ext cx="1069848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1508760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6583680" y="196596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After Hooks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583680" y="237744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审计+处理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607808" y="228600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EA5E9"/>
                </a:solidFill>
              </a:rPr>
              <a:t>→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7790688" y="1371600"/>
            <a:ext cx="1069848" cy="25603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790688" y="1371600"/>
            <a:ext cx="1069848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2" name="Text 40"/>
          <p:cNvSpPr/>
          <p:nvPr/>
        </p:nvSpPr>
        <p:spPr>
          <a:xfrm>
            <a:off x="7790688" y="1508760"/>
            <a:ext cx="1069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7836408" y="196596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1F5F9"/>
                </a:solidFill>
              </a:rPr>
              <a:t>注入防护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836408" y="2377440"/>
            <a:ext cx="978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REDACTED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ToolRegistry.execute() — 统一执行入口，所有工具调用都经过这 7 个步骤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大模型层 — 统一适配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采用 OpenAI 兼容格式，一套代码适配所有模型提供商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5176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26517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A5E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云端 API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MiniMax M2.7 / DeepSeek / Kimi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Claude / GPT / 通义千问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</a:rPr>
              <a:t>性能强，即开即用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554480"/>
            <a:ext cx="265176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554480"/>
            <a:ext cx="2651760" cy="54864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本地私有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21031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Ollama + Qwen3.5-32B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DeepSeek 本地部署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044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</a:rPr>
              <a:t>数据隐私，零成本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2651760" cy="22860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554480"/>
            <a:ext cx="265176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6916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84C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混合调度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210312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简单任务 → 本地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复杂任务 → 云端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32004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</a:rPr>
              <a:t>智能路由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8046720" cy="7315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LLMClient.chat(messages, tools, onDelta?)  —  切换模型只需改配置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记忆系统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3291840"/>
          </a:xfrm>
          <a:prstGeom prst="rect">
            <a:avLst/>
          </a:prstGeom>
          <a:solidFill>
            <a:srgbClr val="000000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38404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MEMORY.md 结构化记忆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3474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长期记忆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偏好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[P001] 用户偏好 pnpm (2026-03-28)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技术决策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[T001] TypeScript strict 模式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待办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[D001] 实现向量搜索模块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知识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[K001] FirmClaw 使用 ReAct 架构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84048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8404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BM25 全文搜索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纯 JS 实现，零原生依赖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2057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中文 bigram 分词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2377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索引覆盖会话 + 记忆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2697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搜索结果动态注入提示词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3017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支持跨会话信息引用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3474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</a:rPr>
              <a:t>检索流程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7490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用户输入 → SearchEngine.search() → 注入 {{memory}}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安全与审计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5176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265176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1417320"/>
            <a:ext cx="118872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417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人工审批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Promise + 回调异步等待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Agent Loop 暂停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CLI 用户输入恢复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风险分级审批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83280" y="1188720"/>
            <a:ext cx="265176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83280" y="1188720"/>
            <a:ext cx="2651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Shape 13"/>
          <p:cNvSpPr/>
          <p:nvPr/>
        </p:nvSpPr>
        <p:spPr>
          <a:xfrm>
            <a:off x="4114800" y="1417320"/>
            <a:ext cx="118872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114800" y="1417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Injection 防护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6616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正则匹配扫描结果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6616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系统提示词劫持检测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角色扮演攻击拦截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56616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标记净化 [REDACTED]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17920" y="1188720"/>
            <a:ext cx="2651760" cy="3200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17920" y="1188720"/>
            <a:ext cx="265176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4" name="Shape 22"/>
          <p:cNvSpPr/>
          <p:nvPr/>
        </p:nvSpPr>
        <p:spPr>
          <a:xfrm>
            <a:off x="6949440" y="1417320"/>
            <a:ext cx="1188720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25" name="Text 23"/>
          <p:cNvSpPr/>
          <p:nvPr/>
        </p:nvSpPr>
        <p:spPr>
          <a:xfrm>
            <a:off x="6949440" y="141732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09360" y="192024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审计日志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400800" y="2377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全量操作 append-only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~/.firmclaw/audit.jsonl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0" y="3291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支持查询与 CSV 导出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记录参数/风险/耗时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上下文管理 — 三级压缩策略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长对话场景下的生存机制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731520" cy="9144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F2FE"/>
                </a:solidFill>
              </a:rPr>
              <a:t>优先级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6304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LLM 摘要压缩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6304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</a:rPr>
              <a:t>50条消息 → ~2000 token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0" y="16459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保留语义和关键决策，压缩比 93%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651760"/>
            <a:ext cx="80467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651760"/>
            <a:ext cx="731520" cy="91440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65176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48640" y="31089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F2FE"/>
                </a:solidFill>
              </a:rPr>
              <a:t>优先级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46304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工具结果截断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</a:rPr>
              <a:t>单条 &gt; 500 token 截断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0" y="274320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减少冗余输出，保留关键信息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8046720" cy="9144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749040"/>
            <a:ext cx="731520" cy="914400"/>
          </a:xfrm>
          <a:prstGeom prst="rect">
            <a:avLst/>
          </a:prstGeom>
          <a:solidFill>
            <a:srgbClr val="07598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7490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420624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0F2FE"/>
                </a:solidFill>
              </a:rPr>
              <a:t>优先级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6304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</a:rPr>
              <a:t>旧消息移除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6304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</a:rPr>
              <a:t>整体超限时移除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0" y="38404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从最早消息开始，确保窗口不溢出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网关层与子智能体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WebSocket 服务器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JSON-RPC 2.0 协议 | ws 库 | 事件推送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agent.chat — 发送消息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session.list / new / resume — 会话管理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2860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approval.respond — 响应审批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agent.cancel — 取消执行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384048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384048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097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子智能体 (Subagent)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5087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复杂任务拆分并行执行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37760" y="18288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独立 AgentLoop 实例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2148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默认只读（工具白名单）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maxSubagents + timeoutMs 限制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788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不共享父会话审批状态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事件推送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560320" y="42062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thinking_delta → 实时思考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560320" y="44348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tool_start / tool_end → 工具状态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60320" y="46634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approval_requested → 审批请求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技术选型与总结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仅 6 个外部依赖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8872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459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LLM 接入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920240" y="1463040"/>
            <a:ext cx="118872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20240" y="1463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ajv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16459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参数校验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91840" y="1463040"/>
            <a:ext cx="118872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4630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16459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WebSocket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1920240"/>
            <a:ext cx="118872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1920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dotenv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1031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环境变量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920240" y="1920240"/>
            <a:ext cx="118872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1920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tsx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21031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TS 运行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91840" y="1920240"/>
            <a:ext cx="1188720" cy="365760"/>
          </a:xfrm>
          <a:prstGeom prst="rect">
            <a:avLst/>
          </a:prstGeom>
          <a:solidFill>
            <a:srgbClr val="1E293B"/>
          </a:solidFill>
          <a:ln w="6350">
            <a:solidFill>
              <a:srgbClr val="0EA5E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19202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21031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类型系统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75488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</a:rPr>
              <a:t>6 阶段渐进演进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754880" y="150876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0" y="1463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P1 v1.0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072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最小 ReAct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766560" y="150876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28" name="Text 26"/>
          <p:cNvSpPr/>
          <p:nvPr/>
        </p:nvSpPr>
        <p:spPr>
          <a:xfrm>
            <a:off x="7040880" y="1463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P2 v1.6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1463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4 工具+权限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54880" y="196596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1" name="Text 29"/>
          <p:cNvSpPr/>
          <p:nvPr/>
        </p:nvSpPr>
        <p:spPr>
          <a:xfrm>
            <a:off x="5029200" y="1920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P3 v2.4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76072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会话+上下文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766560" y="196596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4" name="Text 32"/>
          <p:cNvSpPr/>
          <p:nvPr/>
        </p:nvSpPr>
        <p:spPr>
          <a:xfrm>
            <a:off x="7040880" y="1920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P4 v3.4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19202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记忆+搜索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54880" y="242316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0" y="2377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P5 v5.0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76072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安全+审计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766560" y="2423160"/>
            <a:ext cx="201168" cy="201168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40" name="Text 38"/>
          <p:cNvSpPr/>
          <p:nvPr/>
        </p:nvSpPr>
        <p:spPr>
          <a:xfrm>
            <a:off x="7040880" y="23774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P6 v6.0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772400" y="2377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网关+Web UI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8640" y="3017520"/>
            <a:ext cx="8046720" cy="36576"/>
          </a:xfrm>
          <a:prstGeom prst="rect">
            <a:avLst/>
          </a:prstGeom>
          <a:solidFill>
            <a:srgbClr val="0EA5E9">
              <a:alpha val="5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" y="3200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核心架构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48640" y="35661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一个基于 ReAct 循环的 LLM 工具调用引擎，以本地网关 + 工具系统 + 持久化记忆的组合作为标准蓝图。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48640" y="4206240"/>
            <a:ext cx="1965960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6" name="Text 44"/>
          <p:cNvSpPr/>
          <p:nvPr/>
        </p:nvSpPr>
        <p:spPr>
          <a:xfrm>
            <a:off x="548640" y="4206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渐进式架构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697480" y="4206240"/>
            <a:ext cx="1965960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8" name="Text 46"/>
          <p:cNvSpPr/>
          <p:nvPr/>
        </p:nvSpPr>
        <p:spPr>
          <a:xfrm>
            <a:off x="2697480" y="4206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零外部依赖策略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846320" y="4206240"/>
            <a:ext cx="1965960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0" name="Text 48"/>
          <p:cNvSpPr/>
          <p:nvPr/>
        </p:nvSpPr>
        <p:spPr>
          <a:xfrm>
            <a:off x="4846320" y="4206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全面安全机制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995160" y="4206240"/>
            <a:ext cx="1965960" cy="36576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52" name="Text 50"/>
          <p:cNvSpPr/>
          <p:nvPr/>
        </p:nvSpPr>
        <p:spPr>
          <a:xfrm>
            <a:off x="6995160" y="4206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生产级可靠性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FirmClaw 技术架构介绍</dc:title>
  <dc:subject>PptxGenJS Presentation</dc:subject>
  <dc:creator>FirmClaw Team</dc:creator>
  <cp:lastModifiedBy>FirmClaw Team</cp:lastModifiedBy>
  <cp:revision>1</cp:revision>
  <dcterms:created xsi:type="dcterms:W3CDTF">2026-03-30T03:35:09Z</dcterms:created>
  <dcterms:modified xsi:type="dcterms:W3CDTF">2026-03-30T03:35:09Z</dcterms:modified>
</cp:coreProperties>
</file>